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1" r:id="rId15"/>
    <p:sldId id="272" r:id="rId16"/>
    <p:sldId id="270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7E29B6-773A-4D7D-A9AB-FA129AB6E945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CDC84-46F9-4B6A-994C-A69AB97344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3636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CDC84-46F9-4B6A-994C-A69AB97344DB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1464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9AAAC-A0E2-7B8D-E518-76B3E4DBE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2203012-898D-DA1D-A713-5D2F5EF8B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D724A49-96BF-632C-0154-F6962FECA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5A63695-1BC7-54E8-2FF8-C2BDC67EE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CDC84-46F9-4B6A-994C-A69AB97344DB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9739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8E310-E3CC-D2FA-20AD-48EF888E5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6A68386-5DFD-A363-659D-205528A81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0D8AFE0-98D1-7F31-2AAB-B5B7D6D71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A33E4DC-AD8D-B1F3-FA76-B809DD52F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CDC84-46F9-4B6A-994C-A69AB97344DB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0653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34897-4B9F-E8BE-DA71-D67E8B0DE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89DF897-C26D-57B1-443E-BDEE0F2C0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BF67C23-6AF8-6C96-B14E-7A510CA36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C2D29B0-8331-D4E8-1AEE-B007E55D4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7CDC84-46F9-4B6A-994C-A69AB97344DB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869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DD24E0-89A6-65E5-2127-DA824E385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1669724-BEAD-5E97-E299-80037FB3E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65F40AE-B580-3F2E-4768-19B76EFEB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100-9B43-4655-971A-302724C69967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51C9FF-09BB-F226-9A19-FFB534EFA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37F0D9F-B2A9-B6DE-6650-2B76435C8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9A52-9F76-444A-9993-980876AEDA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9015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38B19A-998C-9B6F-819E-C988053B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E08960-70D9-7557-6838-7391061D4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967B8DB-0891-3580-7552-9C5D50075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100-9B43-4655-971A-302724C69967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BD9112-4333-CF27-BE68-D99233E59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BEF170-0BE2-2647-FAD7-0608FA10D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9A52-9F76-444A-9993-980876AEDA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8798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6542BC-22DA-9178-AD7F-8A55A8F66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5A6CB40-465F-9E69-0D1C-5B8F68936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F5F5F78-A75A-90D9-70E8-8BAD092B3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100-9B43-4655-971A-302724C69967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AB5AA8-61A8-1744-E8EF-B42418CB7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99187B-2A85-8CC5-5817-E8F02D319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9A52-9F76-444A-9993-980876AEDA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3074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1F18ED-A458-9EC6-4179-BFAD9BAC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77BB4CE-A425-2867-ED9B-48C7050C11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66DFF40-CDB8-94EB-2DA4-9AAC0A318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C51222A-F3C1-8944-C6F9-68A7F9AA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100-9B43-4655-971A-302724C69967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F0B522A-BB03-DB7D-8A5A-AE9BEC24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BE52182-1BE8-772F-328C-53DAB2B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9A52-9F76-444A-9993-980876AEDA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444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E26A6A-EFC7-4E05-3E2B-4A238CE83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83768A6-8A85-DDE5-A6AE-D31296F75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2C4D1A3-32AB-FA2A-0F4A-F21421EDA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B125E96-7BE5-B5DA-8FE5-3403521F4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2580065-E4A2-F668-0720-2E62B1F668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6015928-52FF-7C2F-DA56-1850668B2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100-9B43-4655-971A-302724C69967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13501B6-CC65-071B-7F33-82932F6B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45C9288-8F72-C289-247F-DD741C606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9A52-9F76-444A-9993-980876AEDA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4818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9C83C5-C95B-D911-A042-BAF75F9DB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9DD508F-722E-14FD-9DB4-4981AFDFE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100-9B43-4655-971A-302724C69967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32B7F19-FBC0-4835-BE30-C9B038B1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5CF6CFE-353A-CFF9-12C6-2638FC3A0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9A52-9F76-444A-9993-980876AEDA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3593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ECA3DFD-7E5E-BDDE-856E-CA0B84B45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100-9B43-4655-971A-302724C69967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2CCEB1F-62BB-30DB-8654-BDCFB6DA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9F8979F-81A2-0FE0-E7A6-3F364F029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9A52-9F76-444A-9993-980876AEDA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252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88CECB-0B24-3239-17A1-D0A4F724D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C86160-9DAA-54A2-1C22-8D54F5D81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9F17FD5-63D8-181C-C94C-3EBBBF661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AF97278-42D0-E840-093E-A8D3564C8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100-9B43-4655-971A-302724C69967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1217969-1733-2319-4C15-E1A0766E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E6212E-7838-3481-F9DB-D123FB990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9A52-9F76-444A-9993-980876AEDA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9561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C1B2EF-5080-4F89-C22C-6D7DB5709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1F30D1C-3C14-31B1-33DB-4D14CFA7F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3FB558C-A545-2565-6162-A06985F34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801D7B7-3C02-FABD-FF4C-E2C093B73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100-9B43-4655-971A-302724C69967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CD0677-CF2F-F690-83CC-93B5B9BC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D97D8C5-F25B-6A3B-AD57-E42C0A55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9A52-9F76-444A-9993-980876AEDA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1367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4578D0-21F1-4158-E447-585BA2B2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09F3113-5E46-A886-30F0-6EA332934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1595B1-4FFD-7414-6075-47BBE112B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100-9B43-4655-971A-302724C69967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B6F5B2-8E3E-25CE-5536-E781382B4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D8245AB-678B-4096-A937-C403771F4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9A52-9F76-444A-9993-980876AEDA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6646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200FD68-C8E4-DFA3-E904-27E30A6AB4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CE55BA7-4627-9781-104B-567B8E4C6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C63AE6-D76A-B679-319C-36D484E5C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100-9B43-4655-971A-302724C69967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8AC42F-1719-5DED-1167-D243525AA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9974A5-8227-C9C3-9B73-028F29EA9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9A52-9F76-444A-9993-980876AEDA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3717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D472009-2664-FCB1-9A14-88618CD7E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0C9A21B-ECD5-562B-7581-4F57A6EC5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FE4801-C1C6-BA86-4030-27407C0928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D3100-9B43-4655-971A-302724C69967}" type="datetimeFigureOut">
              <a:rPr lang="it-IT" smtClean="0"/>
              <a:t>29/01/2026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82BCECA-843F-3FE6-1E64-47A120A20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80D952-9D70-0CCD-41DB-768F1132C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09A52-9F76-444A-9993-980876AEDA4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929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205E12-E576-81C1-C34D-9707909AFE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Quantum </a:t>
            </a:r>
            <a:r>
              <a:rPr lang="it-IT" dirty="0" err="1"/>
              <a:t>Search</a:t>
            </a:r>
            <a:r>
              <a:rPr lang="it-IT" dirty="0"/>
              <a:t> </a:t>
            </a:r>
            <a:r>
              <a:rPr lang="it-IT" dirty="0" err="1"/>
              <a:t>algorithm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1789323-361C-2B22-A218-35D4AB33CA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And Quantum </a:t>
            </a:r>
            <a:r>
              <a:rPr lang="it-IT" dirty="0" err="1"/>
              <a:t>Oracles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84829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25141C-183E-E804-5CF7-85CE7E3E5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The </a:t>
            </a:r>
            <a:r>
              <a:rPr lang="it-IT" dirty="0" err="1"/>
              <a:t>problem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FCF0EDB-F2F1-B4AC-934C-4360CBF522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it-IT" dirty="0" err="1"/>
                  <a:t>Consider</a:t>
                </a:r>
                <a:r>
                  <a:rPr lang="it-IT" dirty="0"/>
                  <a:t> a database of N </a:t>
                </a:r>
                <a:r>
                  <a:rPr lang="it-IT" dirty="0" err="1"/>
                  <a:t>element</a:t>
                </a:r>
                <a:r>
                  <a:rPr lang="it-IT" dirty="0"/>
                  <a:t>.</a:t>
                </a:r>
              </a:p>
              <a:p>
                <a:pPr marL="0" indent="0" algn="ctr">
                  <a:buNone/>
                </a:pPr>
                <a:r>
                  <a:rPr lang="it-IT" dirty="0"/>
                  <a:t>The goal </a:t>
                </a:r>
                <a:r>
                  <a:rPr lang="it-IT" dirty="0" err="1"/>
                  <a:t>is</a:t>
                </a:r>
                <a:r>
                  <a:rPr lang="it-IT" dirty="0"/>
                  <a:t> to </a:t>
                </a:r>
                <a:r>
                  <a:rPr lang="it-IT" dirty="0" err="1"/>
                  <a:t>find</a:t>
                </a:r>
                <a:r>
                  <a:rPr lang="it-IT" dirty="0"/>
                  <a:t> a </a:t>
                </a:r>
                <a:r>
                  <a:rPr lang="it-IT" dirty="0" err="1"/>
                  <a:t>certain</a:t>
                </a:r>
                <a:r>
                  <a:rPr lang="it-IT" dirty="0"/>
                  <a:t> </a:t>
                </a:r>
                <a:r>
                  <a:rPr lang="it-IT" dirty="0" err="1"/>
                  <a:t>element</a:t>
                </a:r>
                <a:r>
                  <a:rPr lang="it-IT" dirty="0"/>
                  <a:t> </a:t>
                </a:r>
                <a:r>
                  <a:rPr lang="it-IT" i="1" dirty="0"/>
                  <a:t>x</a:t>
                </a:r>
                <a:r>
                  <a:rPr lang="it-IT" dirty="0"/>
                  <a:t> in the database (can be </a:t>
                </a:r>
                <a:r>
                  <a:rPr lang="it-IT" dirty="0" err="1"/>
                  <a:t>repeated</a:t>
                </a:r>
                <a:r>
                  <a:rPr lang="it-IT" dirty="0"/>
                  <a:t> M times).</a:t>
                </a:r>
              </a:p>
              <a:p>
                <a:pPr marL="0" indent="0" algn="ctr">
                  <a:buNone/>
                </a:pPr>
                <a:r>
                  <a:rPr lang="it-IT" dirty="0"/>
                  <a:t>A </a:t>
                </a:r>
                <a:r>
                  <a:rPr lang="it-IT" dirty="0" err="1"/>
                  <a:t>classical</a:t>
                </a:r>
                <a:r>
                  <a:rPr lang="it-IT" dirty="0"/>
                  <a:t> computer </a:t>
                </a:r>
                <a:r>
                  <a:rPr lang="it-IT" dirty="0" err="1"/>
                  <a:t>requires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operations</a:t>
                </a:r>
                <a:r>
                  <a:rPr lang="it-IT" dirty="0"/>
                  <a:t> to do so.</a:t>
                </a:r>
              </a:p>
              <a:p>
                <a:pPr marL="0" indent="0" algn="ctr">
                  <a:buNone/>
                </a:pPr>
                <a:r>
                  <a:rPr lang="it-IT" dirty="0"/>
                  <a:t>With a quantum </a:t>
                </a:r>
                <a:r>
                  <a:rPr lang="it-IT" dirty="0" err="1"/>
                  <a:t>version</a:t>
                </a:r>
                <a:r>
                  <a:rPr lang="it-IT" dirty="0"/>
                  <a:t> </a:t>
                </a:r>
                <a:r>
                  <a:rPr lang="it-IT" dirty="0" err="1"/>
                  <a:t>we</a:t>
                </a:r>
                <a:r>
                  <a:rPr lang="it-IT" dirty="0"/>
                  <a:t> can reduce the </a:t>
                </a:r>
                <a:r>
                  <a:rPr lang="it-IT" dirty="0" err="1"/>
                  <a:t>complexity</a:t>
                </a:r>
                <a:r>
                  <a:rPr lang="it-IT" dirty="0"/>
                  <a:t> </a:t>
                </a:r>
                <a:r>
                  <a:rPr lang="it-IT" dirty="0" err="1"/>
                  <a:t>drastically</a:t>
                </a:r>
                <a:r>
                  <a:rPr lang="it-IT" dirty="0"/>
                  <a:t>, up to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e>
                    </m:d>
                    <m:r>
                      <a:rPr lang="it-IT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FCF0EDB-F2F1-B4AC-934C-4360CBF522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1451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8AAD3-53C9-FC68-E104-7B18E998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1986CE-BC6B-E047-F5F5-ABA6EADC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/>
              <a:t>Follow me and </a:t>
            </a:r>
            <a:r>
              <a:rPr lang="it-IT" b="1" dirty="0" err="1"/>
              <a:t>try</a:t>
            </a:r>
            <a:r>
              <a:rPr lang="it-IT" b="1" dirty="0"/>
              <a:t> </a:t>
            </a:r>
            <a:r>
              <a:rPr lang="it-IT" b="1" dirty="0" err="1"/>
              <a:t>yourself</a:t>
            </a:r>
            <a:r>
              <a:rPr lang="it-IT" b="1" dirty="0"/>
              <a:t>!</a:t>
            </a:r>
          </a:p>
        </p:txBody>
      </p:sp>
      <p:pic>
        <p:nvPicPr>
          <p:cNvPr id="5" name="Immagine 4" descr="Immagine che contiene modello, quadrato, Simmetria, arte&#10;&#10;Il contenuto generato dall'IA potrebbe non essere corretto.">
            <a:extLst>
              <a:ext uri="{FF2B5EF4-FFF2-40B4-BE49-F238E27FC236}">
                <a16:creationId xmlns:a16="http://schemas.microsoft.com/office/drawing/2014/main" id="{FF7F5C67-40A4-C234-5930-82A3FA8CA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214" y="1690688"/>
            <a:ext cx="4201571" cy="41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484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07A49-0F79-F2B9-C992-246F8D5C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0FFD02-C8B5-B100-9B58-63CC34250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Quantum </a:t>
            </a:r>
            <a:r>
              <a:rPr lang="it-IT" dirty="0" err="1"/>
              <a:t>Oracles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21E7EFC-5CFA-60A9-A5B9-A928B3D2F2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it-IT" dirty="0" err="1"/>
                  <a:t>Consider</a:t>
                </a:r>
                <a:r>
                  <a:rPr lang="it-IT" dirty="0"/>
                  <a:t> a </a:t>
                </a:r>
                <a:r>
                  <a:rPr lang="it-IT" dirty="0" err="1"/>
                  <a:t>classical</a:t>
                </a:r>
                <a:r>
                  <a:rPr lang="it-IT" dirty="0"/>
                  <a:t> </a:t>
                </a:r>
                <a:r>
                  <a:rPr lang="it-IT" dirty="0" err="1"/>
                  <a:t>binary</a:t>
                </a:r>
                <a:r>
                  <a:rPr lang="it-IT" dirty="0"/>
                  <a:t> </a:t>
                </a:r>
                <a:r>
                  <a:rPr lang="it-IT" dirty="0" err="1"/>
                  <a:t>function</a:t>
                </a:r>
                <a:endParaRPr lang="it-IT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lit/>
                        </m:rPr>
                        <a:rPr lang="it-IT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0,1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lit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lit/>
                        </m:rPr>
                        <a:rPr lang="it-IT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0,1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lit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  <a:p>
                <a:pPr marL="0" indent="0" algn="ctr">
                  <a:buNone/>
                </a:pPr>
                <a:endParaRPr lang="it-IT" dirty="0"/>
              </a:p>
              <a:p>
                <a:pPr marL="0" indent="0" algn="ctr">
                  <a:buNone/>
                </a:pPr>
                <a:r>
                  <a:rPr lang="it-IT" dirty="0"/>
                  <a:t>A </a:t>
                </a:r>
                <a:r>
                  <a:rPr lang="it-IT" b="1" dirty="0"/>
                  <a:t>Quantum Oracle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a </a:t>
                </a:r>
                <a:r>
                  <a:rPr lang="it-IT" dirty="0" err="1"/>
                  <a:t>unitary</a:t>
                </a:r>
                <a:r>
                  <a:rPr lang="it-IT" dirty="0"/>
                  <a:t> operator </a:t>
                </a:r>
                <a:r>
                  <a:rPr lang="it-IT" dirty="0" err="1"/>
                  <a:t>associated</a:t>
                </a:r>
                <a:r>
                  <a:rPr lang="it-IT" dirty="0"/>
                  <a:t> to </a:t>
                </a:r>
                <a:r>
                  <a:rPr lang="it-IT" i="1" dirty="0"/>
                  <a:t>f</a:t>
                </a:r>
                <a:r>
                  <a:rPr lang="it-IT" dirty="0"/>
                  <a:t> </a:t>
                </a:r>
                <a:r>
                  <a:rPr lang="it-IT" dirty="0" err="1"/>
                  <a:t>such</a:t>
                </a:r>
                <a:r>
                  <a:rPr lang="it-IT" dirty="0"/>
                  <a:t> </a:t>
                </a:r>
                <a:r>
                  <a:rPr lang="it-IT" dirty="0" err="1"/>
                  <a:t>that</a:t>
                </a:r>
                <a:endParaRPr lang="it-IT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it-IT" dirty="0"/>
              </a:p>
              <a:p>
                <a:pPr marL="0" indent="0" algn="ctr">
                  <a:buNone/>
                </a:pPr>
                <a:r>
                  <a:rPr lang="it-IT" dirty="0"/>
                  <a:t>The </a:t>
                </a:r>
                <a:r>
                  <a:rPr lang="it-IT" dirty="0" err="1"/>
                  <a:t>oracle</a:t>
                </a:r>
                <a:r>
                  <a:rPr lang="it-IT" dirty="0"/>
                  <a:t> </a:t>
                </a:r>
                <a:r>
                  <a:rPr lang="it-IT" dirty="0" err="1"/>
                  <a:t>depends</a:t>
                </a:r>
                <a:r>
                  <a:rPr lang="it-IT" dirty="0"/>
                  <a:t> on the system (on </a:t>
                </a:r>
                <a:r>
                  <a:rPr lang="it-IT" i="1" dirty="0"/>
                  <a:t>f(x</a:t>
                </a:r>
                <a:r>
                  <a:rPr lang="it-IT" dirty="0"/>
                  <a:t>)).</a:t>
                </a:r>
              </a:p>
              <a:p>
                <a:pPr marL="0" indent="0" algn="ctr">
                  <a:buNone/>
                </a:pPr>
                <a:r>
                  <a:rPr lang="it-IT" dirty="0"/>
                  <a:t>In the </a:t>
                </a:r>
                <a:r>
                  <a:rPr lang="it-IT" dirty="0" err="1"/>
                  <a:t>definition</a:t>
                </a:r>
                <a:r>
                  <a:rPr lang="it-IT" dirty="0"/>
                  <a:t>, </a:t>
                </a:r>
                <a:r>
                  <a:rPr lang="it-IT" i="1" dirty="0"/>
                  <a:t>x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the query </a:t>
                </a:r>
                <a:r>
                  <a:rPr lang="it-IT" dirty="0" err="1"/>
                  <a:t>register</a:t>
                </a:r>
                <a:r>
                  <a:rPr lang="it-IT" dirty="0"/>
                  <a:t> and </a:t>
                </a:r>
                <a:r>
                  <a:rPr lang="it-IT" i="1" dirty="0"/>
                  <a:t>q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the </a:t>
                </a:r>
                <a:r>
                  <a:rPr lang="it-IT" i="1" dirty="0"/>
                  <a:t>ancilla</a:t>
                </a:r>
                <a:r>
                  <a:rPr lang="it-IT" dirty="0"/>
                  <a:t> </a:t>
                </a:r>
                <a:r>
                  <a:rPr lang="it-IT" dirty="0" err="1"/>
                  <a:t>register</a:t>
                </a:r>
                <a:r>
                  <a:rPr lang="it-IT" dirty="0"/>
                  <a:t> (or </a:t>
                </a:r>
                <a:r>
                  <a:rPr lang="it-IT" dirty="0" err="1"/>
                  <a:t>answer</a:t>
                </a:r>
                <a:r>
                  <a:rPr lang="it-IT" dirty="0"/>
                  <a:t> </a:t>
                </a:r>
                <a:r>
                  <a:rPr lang="it-IT" dirty="0" err="1"/>
                  <a:t>register</a:t>
                </a:r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21E7EFC-5CFA-60A9-A5B9-A928B3D2F2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753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3A0B8-EADD-A052-4A97-7250915A0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5B0D7D-3162-20D5-C03B-0EE96927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Grover Oracle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FFC0917-069B-9BF5-E468-944E2BE25B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want</a:t>
                </a:r>
                <a:r>
                  <a:rPr lang="it-IT" dirty="0"/>
                  <a:t> </a:t>
                </a:r>
                <a:r>
                  <a:rPr lang="it-IT" i="1" dirty="0"/>
                  <a:t>f(x)</a:t>
                </a:r>
                <a:r>
                  <a:rPr lang="it-IT" dirty="0"/>
                  <a:t> to be 1 </a:t>
                </a:r>
                <a:r>
                  <a:rPr lang="it-IT" dirty="0" err="1"/>
                  <a:t>if</a:t>
                </a:r>
                <a:r>
                  <a:rPr lang="it-IT" dirty="0"/>
                  <a:t> </a:t>
                </a:r>
                <a:r>
                  <a:rPr lang="it-IT" i="1" dirty="0"/>
                  <a:t>x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a </a:t>
                </a:r>
                <a:r>
                  <a:rPr lang="it-IT" dirty="0" err="1"/>
                  <a:t>solution</a:t>
                </a:r>
                <a:r>
                  <a:rPr lang="it-IT" dirty="0"/>
                  <a:t> to the </a:t>
                </a:r>
                <a:r>
                  <a:rPr lang="it-IT" dirty="0" err="1"/>
                  <a:t>search</a:t>
                </a:r>
                <a:r>
                  <a:rPr lang="it-IT" dirty="0"/>
                  <a:t> </a:t>
                </a:r>
                <a:r>
                  <a:rPr lang="it-IT" dirty="0" err="1"/>
                  <a:t>problem</a:t>
                </a:r>
                <a:r>
                  <a:rPr lang="it-IT" dirty="0"/>
                  <a:t>, 0 in </a:t>
                </a:r>
                <a:r>
                  <a:rPr lang="it-IT" dirty="0" err="1"/>
                  <a:t>any</a:t>
                </a:r>
                <a:r>
                  <a:rPr lang="it-IT" dirty="0"/>
                  <a:t> </a:t>
                </a:r>
                <a:r>
                  <a:rPr lang="it-IT" dirty="0" err="1"/>
                  <a:t>other</a:t>
                </a:r>
                <a:r>
                  <a:rPr lang="it-IT" dirty="0"/>
                  <a:t> case </a:t>
                </a:r>
                <a:r>
                  <a:rPr lang="it-IT" i="1" dirty="0"/>
                  <a:t>(x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the </a:t>
                </a:r>
                <a:r>
                  <a:rPr lang="it-IT" dirty="0" err="1"/>
                  <a:t>binary</a:t>
                </a:r>
                <a:r>
                  <a:rPr lang="it-IT" dirty="0"/>
                  <a:t> </a:t>
                </a:r>
                <a:r>
                  <a:rPr lang="it-IT" dirty="0" err="1"/>
                  <a:t>representation</a:t>
                </a:r>
                <a:r>
                  <a:rPr lang="it-IT" dirty="0"/>
                  <a:t> of the index)</a:t>
                </a:r>
                <a:r>
                  <a:rPr lang="it-IT" i="1" dirty="0"/>
                  <a:t>. </a:t>
                </a:r>
              </a:p>
              <a:p>
                <a:pPr marL="0" indent="0" algn="ctr">
                  <a:buNone/>
                </a:pPr>
                <a:endParaRPr lang="it-IT" i="1" dirty="0"/>
              </a:p>
              <a:p>
                <a:pPr marL="0" indent="0" algn="ctr">
                  <a:buNone/>
                </a:pPr>
                <a:r>
                  <a:rPr lang="it-IT" dirty="0"/>
                  <a:t>Using the ancilla in state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|−〉</m:t>
                    </m:r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it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dirty="0" err="1"/>
                  <a:t>possible</a:t>
                </a:r>
                <a:r>
                  <a:rPr lang="it-IT" dirty="0"/>
                  <a:t> to concatenate </a:t>
                </a:r>
                <a:r>
                  <a:rPr lang="it-IT" i="1" dirty="0"/>
                  <a:t>X</a:t>
                </a:r>
                <a:r>
                  <a:rPr lang="it-IT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it-IT" dirty="0"/>
                  <a:t> gates to </a:t>
                </a:r>
                <a:r>
                  <a:rPr lang="it-IT" dirty="0" err="1"/>
                  <a:t>achieve</a:t>
                </a:r>
                <a:r>
                  <a:rPr lang="it-IT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it-IT" dirty="0"/>
              </a:p>
              <a:p>
                <a:pPr marL="0" indent="0" algn="ctr">
                  <a:buNone/>
                </a:pPr>
                <a:endParaRPr lang="it-IT" dirty="0"/>
              </a:p>
              <a:p>
                <a:pPr marL="0" indent="0" algn="ctr">
                  <a:buNone/>
                </a:pPr>
                <a:r>
                  <a:rPr lang="it-IT" dirty="0"/>
                  <a:t>In </a:t>
                </a:r>
                <a:r>
                  <a:rPr lang="it-IT" dirty="0" err="1"/>
                  <a:t>this</a:t>
                </a:r>
                <a:r>
                  <a:rPr lang="it-IT" dirty="0"/>
                  <a:t> case, the </a:t>
                </a:r>
                <a:r>
                  <a:rPr lang="it-IT" dirty="0" err="1"/>
                  <a:t>solution</a:t>
                </a:r>
                <a:r>
                  <a:rPr lang="it-IT" dirty="0"/>
                  <a:t> </a:t>
                </a:r>
                <a:r>
                  <a:rPr lang="it-IT" dirty="0" err="1"/>
                  <a:t>will</a:t>
                </a:r>
                <a:r>
                  <a:rPr lang="it-IT" dirty="0"/>
                  <a:t> be </a:t>
                </a:r>
                <a:r>
                  <a:rPr lang="it-IT" dirty="0" err="1"/>
                  <a:t>marked</a:t>
                </a:r>
                <a:r>
                  <a:rPr lang="it-IT" dirty="0"/>
                  <a:t> with a global negative </a:t>
                </a:r>
                <a:r>
                  <a:rPr lang="it-IT" dirty="0" err="1"/>
                  <a:t>phase</a:t>
                </a:r>
                <a:r>
                  <a:rPr lang="it-IT" dirty="0"/>
                  <a:t>.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FFC0917-069B-9BF5-E468-944E2BE25B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8" t="-2381" r="-2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359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0B7EF-B838-82CC-0ABD-2D9192B02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5D7F93-C12C-B6F4-5239-06D71D256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121"/>
            <a:ext cx="10515600" cy="1325563"/>
          </a:xfrm>
        </p:spPr>
        <p:txBody>
          <a:bodyPr/>
          <a:lstStyle/>
          <a:p>
            <a:pPr algn="ctr"/>
            <a:r>
              <a:rPr lang="it-IT" dirty="0"/>
              <a:t>Grover Oracle - </a:t>
            </a:r>
            <a:r>
              <a:rPr lang="it-IT" dirty="0" err="1"/>
              <a:t>Implementation</a:t>
            </a:r>
            <a:endParaRPr lang="it-IT" dirty="0"/>
          </a:p>
        </p:txBody>
      </p:sp>
      <p:pic>
        <p:nvPicPr>
          <p:cNvPr id="5" name="Immagine 4" descr="Immagine che contiene schermata, line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39922483-ABC8-A384-2A1C-0674888B0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8072" y="4313258"/>
            <a:ext cx="2796782" cy="2324301"/>
          </a:xfrm>
          <a:prstGeom prst="rect">
            <a:avLst/>
          </a:prstGeom>
        </p:spPr>
      </p:pic>
      <p:pic>
        <p:nvPicPr>
          <p:cNvPr id="9" name="Immagine 8" descr="Immagine che contiene schermata, line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31F337BC-8A1F-BEEB-AE23-DE78EAFAE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872" y="1468878"/>
            <a:ext cx="2448928" cy="2627634"/>
          </a:xfrm>
          <a:prstGeom prst="rect">
            <a:avLst/>
          </a:prstGeom>
        </p:spPr>
      </p:pic>
      <p:pic>
        <p:nvPicPr>
          <p:cNvPr id="11" name="Immagine 10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C2D33444-D394-3FFC-B694-29BBFFA4B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14" y="1140918"/>
            <a:ext cx="6910724" cy="5414384"/>
          </a:xfrm>
          <a:prstGeom prst="rect">
            <a:avLst/>
          </a:prstGeom>
        </p:spPr>
      </p:pic>
      <p:pic>
        <p:nvPicPr>
          <p:cNvPr id="7" name="Immagine 6" descr="Immagine che contiene linea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B65480D5-E131-2BDD-FFBF-2E6669A840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228" y="4313258"/>
            <a:ext cx="2819644" cy="246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64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9A1B5-2387-C087-DDDD-9BC0F1874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F42385-B5D5-AB44-2C6E-AF02A9387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Grover </a:t>
            </a:r>
            <a:r>
              <a:rPr lang="it-IT" dirty="0" err="1"/>
              <a:t>Diffuser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87A7C-A08E-CD30-5415-BC76820EEE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it-IT" dirty="0"/>
                  <a:t>After the Oracle, a </a:t>
                </a:r>
                <a:r>
                  <a:rPr lang="it-IT" b="1" dirty="0"/>
                  <a:t>Grover </a:t>
                </a:r>
                <a:r>
                  <a:rPr lang="it-IT" b="1" dirty="0" err="1"/>
                  <a:t>Diffuser</a:t>
                </a:r>
                <a:r>
                  <a:rPr lang="it-IT" b="1" dirty="0"/>
                  <a:t> gate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dirty="0" err="1"/>
                  <a:t>implemented</a:t>
                </a:r>
                <a:r>
                  <a:rPr lang="it-IT" dirty="0"/>
                  <a:t>, </a:t>
                </a:r>
                <a:r>
                  <a:rPr lang="it-IT" dirty="0" err="1"/>
                  <a:t>characterized</a:t>
                </a:r>
                <a:r>
                  <a:rPr lang="it-IT" dirty="0"/>
                  <a:t> by the following steps on the </a:t>
                </a:r>
                <a:r>
                  <a:rPr lang="it-IT" i="1" dirty="0"/>
                  <a:t>n</a:t>
                </a:r>
                <a:r>
                  <a:rPr lang="it-IT" dirty="0"/>
                  <a:t> query </a:t>
                </a:r>
                <a:r>
                  <a:rPr lang="it-IT" dirty="0" err="1"/>
                  <a:t>qubits</a:t>
                </a:r>
                <a:r>
                  <a:rPr lang="it-IT" dirty="0"/>
                  <a:t> (</a:t>
                </a:r>
                <a:r>
                  <a:rPr lang="it-IT" dirty="0" err="1"/>
                  <a:t>practically</a:t>
                </a:r>
                <a:r>
                  <a:rPr lang="it-IT" dirty="0"/>
                  <a:t> </a:t>
                </a:r>
                <a:r>
                  <a:rPr lang="it-IT" dirty="0" err="1"/>
                  <a:t>it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dirty="0" err="1"/>
                  <a:t>analogue</a:t>
                </a:r>
                <a:r>
                  <a:rPr lang="it-IT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it-IT" dirty="0"/>
                  <a:t>):</a:t>
                </a:r>
              </a:p>
              <a:p>
                <a:pPr marL="0" indent="0" algn="ctr">
                  <a:buNone/>
                </a:pPr>
                <a:endParaRPr lang="it-IT" dirty="0"/>
              </a:p>
              <a:p>
                <a:pPr marL="514350" indent="-514350" algn="ctr">
                  <a:buFont typeface="+mj-lt"/>
                  <a:buAutoNum type="arabicPeriod"/>
                </a:pPr>
                <a:r>
                  <a:rPr lang="it-IT" dirty="0" err="1"/>
                  <a:t>Apply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it-IT" b="0" dirty="0"/>
              </a:p>
              <a:p>
                <a:pPr marL="514350" indent="-514350" algn="ctr">
                  <a:buFont typeface="+mj-lt"/>
                  <a:buAutoNum type="arabicPeriod"/>
                </a:pPr>
                <a:r>
                  <a:rPr lang="it-IT" dirty="0" err="1"/>
                  <a:t>Conditional</a:t>
                </a:r>
                <a:r>
                  <a:rPr lang="it-IT" dirty="0"/>
                  <a:t> </a:t>
                </a:r>
                <a:r>
                  <a:rPr lang="it-IT" dirty="0" err="1"/>
                  <a:t>phase</a:t>
                </a:r>
                <a:r>
                  <a:rPr lang="it-IT" dirty="0"/>
                  <a:t> shift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→−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</m:sSub>
                      </m:sup>
                    </m:sSup>
                    <m:d>
                      <m:dPr>
                        <m:begChr m:val="|"/>
                        <m:endChr m:val="⟩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it-IT" b="0" dirty="0"/>
              </a:p>
              <a:p>
                <a:pPr marL="514350" indent="-514350" algn="ctr">
                  <a:buFont typeface="+mj-lt"/>
                  <a:buAutoNum type="arabicPeriod"/>
                </a:pPr>
                <a:r>
                  <a:rPr lang="it-IT" dirty="0"/>
                  <a:t>Apply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it-IT" b="0" dirty="0"/>
              </a:p>
              <a:p>
                <a:pPr marL="514350" indent="-514350" algn="ctr">
                  <a:buFont typeface="+mj-lt"/>
                  <a:buAutoNum type="arabicPeriod"/>
                </a:pPr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87A7C-A08E-CD30-5415-BC76820EEE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316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8354F-E3D5-ACDD-71C8-9DA703ED2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8A0917-9CAD-CD56-DC4E-2E93F25A4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Grover </a:t>
            </a:r>
            <a:r>
              <a:rPr lang="it-IT" dirty="0" err="1"/>
              <a:t>Diffuser</a:t>
            </a:r>
            <a:r>
              <a:rPr lang="it-IT" dirty="0"/>
              <a:t> - </a:t>
            </a:r>
            <a:r>
              <a:rPr lang="it-IT" dirty="0" err="1"/>
              <a:t>Implementation</a:t>
            </a:r>
            <a:endParaRPr lang="it-IT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45866B7A-9212-8A24-70D2-9E95AF30E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793" y="1501765"/>
            <a:ext cx="5243014" cy="3147333"/>
          </a:xfrm>
          <a:prstGeom prst="rect">
            <a:avLst/>
          </a:prstGeom>
        </p:spPr>
      </p:pic>
      <p:pic>
        <p:nvPicPr>
          <p:cNvPr id="12" name="Immagine 11" descr="Immagine che contiene linea&#10;&#10;Il contenuto generato dall'IA potrebbe non essere corretto.">
            <a:extLst>
              <a:ext uri="{FF2B5EF4-FFF2-40B4-BE49-F238E27FC236}">
                <a16:creationId xmlns:a16="http://schemas.microsoft.com/office/drawing/2014/main" id="{942C2D3A-F3C9-F95A-D95B-BCCD0864A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765469"/>
            <a:ext cx="5090601" cy="1813717"/>
          </a:xfrm>
          <a:prstGeom prst="rect">
            <a:avLst/>
          </a:prstGeom>
        </p:spPr>
      </p:pic>
      <p:pic>
        <p:nvPicPr>
          <p:cNvPr id="14" name="Immagine 1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EACACA55-BD9D-CBD0-35F2-83A837F5D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66" y="1970432"/>
            <a:ext cx="5295427" cy="370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019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8291B-E4F5-CD48-B4AB-366B86D6C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7322C2-8C80-0356-69AF-4912C4A02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Grover </a:t>
            </a:r>
            <a:r>
              <a:rPr lang="it-IT" dirty="0" err="1"/>
              <a:t>Algorithm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53905C9-C75B-3977-9733-A69036C70F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3017"/>
                <a:ext cx="1051560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it-IT" dirty="0"/>
                  <a:t>Start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it-IT" dirty="0"/>
                  <a:t>, </a:t>
                </a:r>
                <a:r>
                  <a:rPr lang="it-IT" dirty="0" err="1"/>
                  <a:t>apply</a:t>
                </a:r>
                <a:r>
                  <a:rPr lang="it-IT" dirty="0"/>
                  <a:t> </a:t>
                </a:r>
                <a:r>
                  <a:rPr lang="it-IT" i="1" dirty="0"/>
                  <a:t>X</a:t>
                </a:r>
                <a:r>
                  <a:rPr lang="it-IT" dirty="0"/>
                  <a:t> to the ancilla, </a:t>
                </a:r>
                <a:r>
                  <a:rPr lang="it-IT" dirty="0" err="1"/>
                  <a:t>then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it-IT" dirty="0"/>
              </a:p>
              <a:p>
                <a:pPr marL="0" indent="0" algn="ctr">
                  <a:buNone/>
                </a:pPr>
                <a:r>
                  <a:rPr lang="it-IT" dirty="0"/>
                  <a:t>The </a:t>
                </a:r>
                <a:r>
                  <a:rPr lang="it-IT" dirty="0" err="1"/>
                  <a:t>whole</a:t>
                </a:r>
                <a:r>
                  <a:rPr lang="it-IT" dirty="0"/>
                  <a:t> </a:t>
                </a:r>
                <a:r>
                  <a:rPr lang="it-IT" dirty="0" err="1"/>
                  <a:t>algorithm</a:t>
                </a:r>
                <a:r>
                  <a:rPr lang="it-IT" dirty="0"/>
                  <a:t> </a:t>
                </a:r>
                <a:r>
                  <a:rPr lang="it-IT" dirty="0" err="1"/>
                  <a:t>then</a:t>
                </a:r>
                <a:r>
                  <a:rPr lang="it-IT" dirty="0"/>
                  <a:t> </a:t>
                </a:r>
                <a:r>
                  <a:rPr lang="it-IT" dirty="0" err="1"/>
                  <a:t>consists</a:t>
                </a:r>
                <a:r>
                  <a:rPr lang="it-IT" dirty="0"/>
                  <a:t> in the </a:t>
                </a:r>
                <a:r>
                  <a:rPr lang="it-IT" dirty="0" err="1"/>
                  <a:t>concatenation</a:t>
                </a:r>
                <a:r>
                  <a:rPr lang="it-IT" dirty="0"/>
                  <a:t> of the Oracle and the </a:t>
                </a:r>
                <a:r>
                  <a:rPr lang="it-IT" dirty="0" err="1"/>
                  <a:t>Diffuser</a:t>
                </a:r>
                <a:r>
                  <a:rPr lang="it-IT" dirty="0"/>
                  <a:t>, </a:t>
                </a:r>
                <a:r>
                  <a:rPr lang="it-IT" dirty="0" err="1"/>
                  <a:t>performed</a:t>
                </a:r>
                <a:r>
                  <a:rPr lang="it-IT" dirty="0"/>
                  <a:t> for </a:t>
                </a:r>
                <a:r>
                  <a:rPr lang="it-IT" i="1" dirty="0"/>
                  <a:t>k</a:t>
                </a:r>
                <a:r>
                  <a:rPr lang="it-IT" dirty="0"/>
                  <a:t> times.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53905C9-C75B-3977-9733-A69036C70F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3017"/>
                <a:ext cx="10515600" cy="4351338"/>
              </a:xfrm>
              <a:blipFill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 descr="Immagine che contiene linea, schermata, diagramma, quadrato&#10;&#10;Il contenuto generato dall'IA potrebbe non essere corretto.">
            <a:extLst>
              <a:ext uri="{FF2B5EF4-FFF2-40B4-BE49-F238E27FC236}">
                <a16:creationId xmlns:a16="http://schemas.microsoft.com/office/drawing/2014/main" id="{68F55E78-4195-E67F-05DE-CE3225654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671" y="3011424"/>
            <a:ext cx="8754658" cy="348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98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45ED-8A8F-9CDA-2B6B-0F31D57F1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1B8B17-A487-6B3C-A44F-7F94EC7B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945"/>
            <a:ext cx="10515600" cy="1325563"/>
          </a:xfrm>
        </p:spPr>
        <p:txBody>
          <a:bodyPr/>
          <a:lstStyle/>
          <a:p>
            <a:pPr algn="ctr"/>
            <a:r>
              <a:rPr lang="it-IT" dirty="0"/>
              <a:t>Grover </a:t>
            </a:r>
            <a:r>
              <a:rPr lang="it-IT" dirty="0" err="1"/>
              <a:t>Algorithm</a:t>
            </a:r>
            <a:r>
              <a:rPr lang="it-IT" dirty="0"/>
              <a:t> – </a:t>
            </a:r>
            <a:r>
              <a:rPr lang="it-IT" dirty="0" err="1"/>
              <a:t>Geometric</a:t>
            </a:r>
            <a:r>
              <a:rPr lang="it-IT" dirty="0"/>
              <a:t> </a:t>
            </a:r>
            <a:r>
              <a:rPr lang="it-IT" dirty="0" err="1"/>
              <a:t>interpretation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99EE1A4E-F21E-C3ED-BFE3-271824ED153D}"/>
                  </a:ext>
                </a:extLst>
              </p:cNvPr>
              <p:cNvSpPr txBox="1"/>
              <p:nvPr/>
            </p:nvSpPr>
            <p:spPr>
              <a:xfrm>
                <a:off x="114301" y="2545130"/>
                <a:ext cx="7786115" cy="40446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not</m:t>
                          </m:r>
                          <m:r>
                            <m:rPr>
                              <m:nor/>
                            </m:rP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sol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                     </m:t>
                      </m:r>
                      <m:d>
                        <m:dPr>
                          <m:begChr m:val="|"/>
                          <m:endChr m:val="⟩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ra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it-IT" sz="2000" b="0" i="0" smtClean="0">
                              <a:latin typeface="Cambria Math" panose="02040503050406030204" pitchFamily="18" charset="0"/>
                            </a:rPr>
                            <m:t>sol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it-IT" sz="2000" dirty="0"/>
              </a:p>
              <a:p>
                <a:endParaRPr lang="it-IT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rad>
                      <m:d>
                        <m:dPr>
                          <m:begChr m:val="|"/>
                          <m:endChr m:val="⟩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rad>
                      <m:d>
                        <m:dPr>
                          <m:begChr m:val="|"/>
                          <m:endChr m:val="⟩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it-IT" sz="2000" b="0" i="0" smtClean="0">
                          <a:latin typeface="Cambria Math" panose="02040503050406030204" pitchFamily="18" charset="0"/>
                        </a:rPr>
                        <m:t>                    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=2⋅</m:t>
                      </m:r>
                      <m:r>
                        <m:rPr>
                          <m:nor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arccos</m:t>
                      </m:r>
                      <m:rad>
                        <m:radPr>
                          <m:degHide m:val="on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num>
                            <m:den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it-IT" sz="2000" dirty="0"/>
              </a:p>
              <a:p>
                <a:endParaRPr lang="it-IT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endChr m:val="⟩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d>
                        <m:dPr>
                          <m:begChr m:val="⟨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d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it-IT" sz="2000" dirty="0"/>
              </a:p>
              <a:p>
                <a:endParaRPr lang="it-IT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it-IT" sz="2000" dirty="0"/>
              </a:p>
              <a:p>
                <a:endParaRPr lang="it-IT" sz="20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99EE1A4E-F21E-C3ED-BFE3-271824ED1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1" y="2545130"/>
                <a:ext cx="7786115" cy="40446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 descr="Immagine che contiene linea, diagramma, schizzo, triangolo&#10;&#10;Il contenuto generato dall'IA potrebbe non essere corretto.">
            <a:extLst>
              <a:ext uri="{FF2B5EF4-FFF2-40B4-BE49-F238E27FC236}">
                <a16:creationId xmlns:a16="http://schemas.microsoft.com/office/drawing/2014/main" id="{2BA68FFB-D10D-C9A4-331C-16CD2136C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16" y="2518061"/>
            <a:ext cx="3779520" cy="40987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E9EB2562-8E50-DE30-052B-221A4BD087F1}"/>
                  </a:ext>
                </a:extLst>
              </p:cNvPr>
              <p:cNvSpPr txBox="1"/>
              <p:nvPr/>
            </p:nvSpPr>
            <p:spPr>
              <a:xfrm>
                <a:off x="560832" y="1072896"/>
                <a:ext cx="10924032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2800" dirty="0" err="1"/>
                  <a:t>Apply</a:t>
                </a:r>
                <a:r>
                  <a:rPr lang="it-IT" sz="2800" dirty="0"/>
                  <a:t> the Grover gate can be </a:t>
                </a:r>
                <a:r>
                  <a:rPr lang="it-IT" sz="2800" dirty="0" err="1"/>
                  <a:t>seen</a:t>
                </a:r>
                <a:r>
                  <a:rPr lang="it-IT" sz="2800" dirty="0"/>
                  <a:t> </a:t>
                </a:r>
                <a:r>
                  <a:rPr lang="it-IT" sz="2800" dirty="0" err="1"/>
                  <a:t>as</a:t>
                </a:r>
                <a:r>
                  <a:rPr lang="it-IT" sz="2800" dirty="0"/>
                  <a:t> a 2D </a:t>
                </a:r>
                <a:r>
                  <a:rPr lang="it-IT" sz="2800" dirty="0" err="1"/>
                  <a:t>rotation</a:t>
                </a:r>
                <a:r>
                  <a:rPr lang="it-IT" sz="2800" dirty="0"/>
                  <a:t> of angle </a:t>
                </a:r>
                <a14:m>
                  <m:oMath xmlns:m="http://schemas.openxmlformats.org/officeDocument/2006/math"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it-IT" sz="2800" dirty="0"/>
                  <a:t> in the </a:t>
                </a:r>
                <a:r>
                  <a:rPr lang="it-IT" sz="2800" dirty="0" err="1"/>
                  <a:t>solution</a:t>
                </a:r>
                <a:r>
                  <a:rPr lang="it-IT" sz="2800" dirty="0"/>
                  <a:t>/non-</a:t>
                </a:r>
                <a:r>
                  <a:rPr lang="it-IT" sz="2800" dirty="0" err="1"/>
                  <a:t>solution</a:t>
                </a:r>
                <a:r>
                  <a:rPr lang="it-IT" sz="2800" dirty="0"/>
                  <a:t> </a:t>
                </a:r>
                <a:r>
                  <a:rPr lang="it-IT" sz="2800" dirty="0" err="1"/>
                  <a:t>plane</a:t>
                </a:r>
                <a:r>
                  <a:rPr lang="it-IT" sz="2800" dirty="0"/>
                  <a:t>.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E9EB2562-8E50-DE30-052B-221A4BD08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32" y="1072896"/>
                <a:ext cx="10924032" cy="954107"/>
              </a:xfrm>
              <a:prstGeom prst="rect">
                <a:avLst/>
              </a:prstGeom>
              <a:blipFill>
                <a:blip r:embed="rId4"/>
                <a:stretch>
                  <a:fillRect t="-6369" b="-1656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1571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AE2D9-2BC9-341E-1947-5D9B22326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4467FF-F1AB-0AD3-FF70-1BE8C674B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How </a:t>
            </a:r>
            <a:r>
              <a:rPr lang="it-IT" dirty="0" err="1"/>
              <a:t>many</a:t>
            </a:r>
            <a:r>
              <a:rPr lang="it-IT" dirty="0"/>
              <a:t> times?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1910CDC-C505-0015-8485-E06746E18F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4904" y="1690688"/>
                <a:ext cx="6004169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ctr">
                  <a:buNone/>
                </a:pPr>
                <a:r>
                  <a:rPr lang="it-IT" dirty="0"/>
                  <a:t>To </a:t>
                </a:r>
                <a:r>
                  <a:rPr lang="it-IT" dirty="0" err="1"/>
                  <a:t>maximize</a:t>
                </a:r>
                <a:r>
                  <a:rPr lang="it-IT" dirty="0"/>
                  <a:t> the success </a:t>
                </a:r>
                <a:r>
                  <a:rPr lang="it-IT" dirty="0" err="1"/>
                  <a:t>probability</a:t>
                </a:r>
                <a:r>
                  <a:rPr lang="it-IT" dirty="0"/>
                  <a:t>, </a:t>
                </a:r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need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begChr m:val="|"/>
                        <m:endChr m:val="⟩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it-IT" dirty="0"/>
                  <a:t>, </a:t>
                </a:r>
                <a:r>
                  <a:rPr lang="it-IT" dirty="0" err="1"/>
                  <a:t>meaning</a:t>
                </a:r>
                <a:r>
                  <a:rPr lang="it-IT" dirty="0"/>
                  <a:t> </a:t>
                </a:r>
                <a:r>
                  <a:rPr lang="it-IT" dirty="0" err="1"/>
                  <a:t>that</a:t>
                </a:r>
                <a:r>
                  <a:rPr lang="it-IT" dirty="0"/>
                  <a:t> the </a:t>
                </a:r>
                <a:r>
                  <a:rPr lang="it-IT" dirty="0" err="1"/>
                  <a:t>initial</a:t>
                </a:r>
                <a:r>
                  <a:rPr lang="it-IT" dirty="0"/>
                  <a:t> state must be </a:t>
                </a:r>
                <a:r>
                  <a:rPr lang="it-IT" dirty="0" err="1"/>
                  <a:t>rotated</a:t>
                </a:r>
                <a:r>
                  <a:rPr lang="it-IT" dirty="0"/>
                  <a:t>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b="0" i="0" smtClean="0">
                        <a:latin typeface="Cambria Math" panose="02040503050406030204" pitchFamily="18" charset="0"/>
                      </a:rPr>
                      <m:t>arccos</m:t>
                    </m:r>
                    <m:rad>
                      <m:radPr>
                        <m:degHide m:val="on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lit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radians</a:t>
                </a:r>
                <a:r>
                  <a:rPr lang="it-IT" dirty="0"/>
                  <a:t>.</a:t>
                </a:r>
              </a:p>
              <a:p>
                <a:pPr marL="0" indent="0" algn="ctr">
                  <a:buNone/>
                </a:pPr>
                <a:endParaRPr lang="it-IT" dirty="0"/>
              </a:p>
              <a:p>
                <a:pPr marL="0" indent="0" algn="ctr">
                  <a:buNone/>
                </a:pPr>
                <a:r>
                  <a:rPr lang="it-IT" dirty="0" err="1"/>
                  <a:t>If</a:t>
                </a:r>
                <a:r>
                  <a:rPr lang="it-IT" dirty="0"/>
                  <a:t> </a:t>
                </a:r>
                <a:r>
                  <a:rPr lang="it-IT" dirty="0" err="1"/>
                  <a:t>each</a:t>
                </a:r>
                <a:r>
                  <a:rPr lang="it-IT" dirty="0"/>
                  <a:t> step </a:t>
                </a:r>
                <a:r>
                  <a:rPr lang="it-IT" dirty="0" err="1"/>
                  <a:t>rotates</a:t>
                </a:r>
                <a:r>
                  <a:rPr lang="it-IT" dirty="0"/>
                  <a:t> of an angle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it-IT" dirty="0"/>
                  <a:t>, the Grover gate must be </a:t>
                </a:r>
                <a:r>
                  <a:rPr lang="it-IT" dirty="0" err="1"/>
                  <a:t>applied</a:t>
                </a:r>
                <a:r>
                  <a:rPr lang="it-IT" dirty="0"/>
                  <a:t> </a:t>
                </a:r>
                <a:r>
                  <a:rPr lang="it-IT" i="1" dirty="0"/>
                  <a:t>k</a:t>
                </a:r>
                <a:r>
                  <a:rPr lang="it-IT" dirty="0"/>
                  <a:t> times:</a:t>
                </a:r>
              </a:p>
              <a:p>
                <a:pPr marL="0" indent="0" algn="ctr">
                  <a:buNone/>
                </a:pPr>
                <a:endParaRPr lang="it-IT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t-IT" b="0" i="0" smtClean="0">
                          <a:latin typeface="Cambria Math" panose="02040503050406030204" pitchFamily="18" charset="0"/>
                        </a:rPr>
                        <m:t>int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arccos</m:t>
                              </m:r>
                              <m:rad>
                                <m:radPr>
                                  <m:degHide m:val="on"/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den>
                                  </m:f>
                                </m:e>
                              </m:rad>
                            </m:num>
                            <m:den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1910CDC-C505-0015-8485-E06746E18F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4904" y="1690688"/>
                <a:ext cx="6004169" cy="4351338"/>
              </a:xfrm>
              <a:blipFill>
                <a:blip r:embed="rId2"/>
                <a:stretch>
                  <a:fillRect l="-407" t="-2801" r="-40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F7FC3209-37CF-93B6-E44D-4A2FE4A39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073" y="1462575"/>
            <a:ext cx="5252095" cy="50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992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6E4B2-2B52-336A-5A75-B6D03CD3A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D3F83E-BD1D-D7BD-9A2C-B875F45D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941"/>
            <a:ext cx="10515600" cy="1325563"/>
          </a:xfrm>
        </p:spPr>
        <p:txBody>
          <a:bodyPr/>
          <a:lstStyle/>
          <a:p>
            <a:pPr algn="ctr"/>
            <a:r>
              <a:rPr lang="it-IT" dirty="0" err="1"/>
              <a:t>Results</a:t>
            </a:r>
            <a:r>
              <a:rPr lang="it-IT" dirty="0"/>
              <a:t> – </a:t>
            </a:r>
            <a:r>
              <a:rPr lang="it-IT" dirty="0" err="1"/>
              <a:t>correct</a:t>
            </a:r>
            <a:r>
              <a:rPr lang="it-IT" dirty="0"/>
              <a:t> </a:t>
            </a:r>
            <a:r>
              <a:rPr lang="it-IT" dirty="0" err="1"/>
              <a:t>picks</a:t>
            </a:r>
            <a:r>
              <a:rPr lang="it-IT" dirty="0"/>
              <a:t> VS </a:t>
            </a:r>
            <a:r>
              <a:rPr lang="it-IT" i="1" dirty="0"/>
              <a:t>k</a:t>
            </a:r>
            <a:endParaRPr lang="it-IT" dirty="0"/>
          </a:p>
        </p:txBody>
      </p:sp>
      <p:pic>
        <p:nvPicPr>
          <p:cNvPr id="5" name="Segnaposto contenuto 4" descr="Immagine che contiene testo, schermata, Carattere, diagramma&#10;&#10;Il contenuto generato dall'IA potrebbe non essere corretto.">
            <a:extLst>
              <a:ext uri="{FF2B5EF4-FFF2-40B4-BE49-F238E27FC236}">
                <a16:creationId xmlns:a16="http://schemas.microsoft.com/office/drawing/2014/main" id="{A843CB06-13B8-A8F5-E1BD-8B646E8A47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491" y="1175698"/>
            <a:ext cx="3040510" cy="2171265"/>
          </a:xfrm>
          <a:prstGeom prst="rect">
            <a:avLst/>
          </a:prstGeom>
        </p:spPr>
      </p:pic>
      <p:pic>
        <p:nvPicPr>
          <p:cNvPr id="7" name="Immagine 6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85D3FAA8-DE4D-C2D0-EE7B-787E4C77E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001" y="1237051"/>
            <a:ext cx="2848200" cy="2109912"/>
          </a:xfrm>
          <a:prstGeom prst="rect">
            <a:avLst/>
          </a:prstGeom>
        </p:spPr>
      </p:pic>
      <p:pic>
        <p:nvPicPr>
          <p:cNvPr id="9" name="Immagine 8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2A107A07-3D66-250C-BB68-924C9E363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7201" y="1237051"/>
            <a:ext cx="2820429" cy="2109912"/>
          </a:xfrm>
          <a:prstGeom prst="rect">
            <a:avLst/>
          </a:prstGeom>
        </p:spPr>
      </p:pic>
      <p:pic>
        <p:nvPicPr>
          <p:cNvPr id="11" name="Immagine 10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2439AAD6-284F-76B1-8BC4-A7DA389A7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102" y="1237051"/>
            <a:ext cx="2804728" cy="2109912"/>
          </a:xfrm>
          <a:prstGeom prst="rect">
            <a:avLst/>
          </a:prstGeom>
        </p:spPr>
      </p:pic>
      <p:pic>
        <p:nvPicPr>
          <p:cNvPr id="13" name="Immagine 12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C3F94FC0-7D03-9D7F-6E64-E5EC764F65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91" y="3429000"/>
            <a:ext cx="4065231" cy="3089787"/>
          </a:xfrm>
          <a:prstGeom prst="rect">
            <a:avLst/>
          </a:prstGeom>
        </p:spPr>
      </p:pic>
      <p:pic>
        <p:nvPicPr>
          <p:cNvPr id="15" name="Immagine 14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B79A8AC4-3C6A-83A2-92D6-93985E83E0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3722" y="3511037"/>
            <a:ext cx="4013754" cy="3007750"/>
          </a:xfrm>
          <a:prstGeom prst="rect">
            <a:avLst/>
          </a:prstGeom>
        </p:spPr>
      </p:pic>
      <p:pic>
        <p:nvPicPr>
          <p:cNvPr id="17" name="Immagine 16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C99A5538-1849-8050-E829-AB9C1C58C2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8953" y="3609359"/>
            <a:ext cx="3835987" cy="281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280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A9FA6-6DD5-71EB-4BAF-F425B1C7A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81AEB9-CF1B-B284-D181-F825F01F2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659"/>
            <a:ext cx="10515600" cy="1325563"/>
          </a:xfrm>
        </p:spPr>
        <p:txBody>
          <a:bodyPr/>
          <a:lstStyle/>
          <a:p>
            <a:pPr algn="ctr"/>
            <a:r>
              <a:rPr lang="it-IT" dirty="0" err="1"/>
              <a:t>Results</a:t>
            </a:r>
            <a:r>
              <a:rPr lang="it-IT" dirty="0"/>
              <a:t> – success VS </a:t>
            </a:r>
            <a:r>
              <a:rPr lang="it-IT" i="1" dirty="0"/>
              <a:t>k</a:t>
            </a:r>
            <a:endParaRPr lang="it-IT" dirty="0"/>
          </a:p>
        </p:txBody>
      </p:sp>
      <p:pic>
        <p:nvPicPr>
          <p:cNvPr id="10" name="Immagine 9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0A20F6C1-7440-189E-DB5D-BFD947DDD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740" y="1086884"/>
            <a:ext cx="3498564" cy="2698335"/>
          </a:xfrm>
          <a:prstGeom prst="rect">
            <a:avLst/>
          </a:prstGeom>
        </p:spPr>
      </p:pic>
      <p:pic>
        <p:nvPicPr>
          <p:cNvPr id="14" name="Immagine 13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B1CDE60F-793F-46C7-E0CC-098048A33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816" y="3922546"/>
            <a:ext cx="3580411" cy="2830561"/>
          </a:xfrm>
          <a:prstGeom prst="rect">
            <a:avLst/>
          </a:prstGeom>
        </p:spPr>
      </p:pic>
      <p:pic>
        <p:nvPicPr>
          <p:cNvPr id="18" name="Immagine 17" descr="Immagine che contiene testo, line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0069BCB3-4E0D-0B86-BEDE-6743832B3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7928" y="1086884"/>
            <a:ext cx="3498563" cy="2668715"/>
          </a:xfrm>
          <a:prstGeom prst="rect">
            <a:avLst/>
          </a:prstGeom>
        </p:spPr>
      </p:pic>
      <p:pic>
        <p:nvPicPr>
          <p:cNvPr id="20" name="Immagine 19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1628CE87-DEE9-2486-ACE2-4090542EBF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7003" y="3922546"/>
            <a:ext cx="3580411" cy="282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423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CB160-052C-82A8-203E-E97350460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91A0DB-CC1A-E316-9DFD-9C731EC01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237"/>
            <a:ext cx="10515600" cy="1325563"/>
          </a:xfrm>
        </p:spPr>
        <p:txBody>
          <a:bodyPr/>
          <a:lstStyle/>
          <a:p>
            <a:pPr algn="ctr"/>
            <a:r>
              <a:rPr lang="it-IT" dirty="0" err="1"/>
              <a:t>Results</a:t>
            </a:r>
            <a:r>
              <a:rPr lang="it-IT" dirty="0"/>
              <a:t> – </a:t>
            </a:r>
            <a:r>
              <a:rPr lang="it-IT" dirty="0" err="1"/>
              <a:t>complexity</a:t>
            </a:r>
            <a:endParaRPr lang="it-IT" dirty="0"/>
          </a:p>
        </p:txBody>
      </p:sp>
      <p:pic>
        <p:nvPicPr>
          <p:cNvPr id="4" name="Immagine 3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84601DBF-A198-1843-3D63-62A5DE3F4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87" y="1276311"/>
            <a:ext cx="6797275" cy="5403452"/>
          </a:xfrm>
          <a:prstGeom prst="rect">
            <a:avLst/>
          </a:prstGeom>
        </p:spPr>
      </p:pic>
      <p:pic>
        <p:nvPicPr>
          <p:cNvPr id="7" name="Immagine 6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B293F43-6105-23F1-DF36-7A9E30680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227" y="2752120"/>
            <a:ext cx="4881186" cy="3742717"/>
          </a:xfrm>
          <a:prstGeom prst="rect">
            <a:avLst/>
          </a:prstGeom>
        </p:spPr>
      </p:pic>
      <p:sp>
        <p:nvSpPr>
          <p:cNvPr id="8" name="Freccia circolare in giù 7">
            <a:extLst>
              <a:ext uri="{FF2B5EF4-FFF2-40B4-BE49-F238E27FC236}">
                <a16:creationId xmlns:a16="http://schemas.microsoft.com/office/drawing/2014/main" id="{E7AA3F64-645C-0DF7-66A3-A4B6EE2BFB98}"/>
              </a:ext>
            </a:extLst>
          </p:cNvPr>
          <p:cNvSpPr/>
          <p:nvPr/>
        </p:nvSpPr>
        <p:spPr>
          <a:xfrm>
            <a:off x="6597445" y="4001728"/>
            <a:ext cx="1347020" cy="884903"/>
          </a:xfrm>
          <a:prstGeom prst="curvedDownArrow">
            <a:avLst>
              <a:gd name="adj1" fmla="val 25000"/>
              <a:gd name="adj2" fmla="val 67158"/>
              <a:gd name="adj3" fmla="val 462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07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7E941876-167F-75C7-1F59-65FDCD8EB9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Thanks for the </a:t>
            </a:r>
            <a:r>
              <a:rPr lang="it-IT" dirty="0" err="1"/>
              <a:t>attention</a:t>
            </a:r>
            <a:r>
              <a:rPr lang="it-IT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205693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6FF80-7B7F-775D-4426-6A5DA5A0C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425E5C-E0A5-8B53-97CF-6542B7F97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941"/>
            <a:ext cx="10515600" cy="1325563"/>
          </a:xfrm>
        </p:spPr>
        <p:txBody>
          <a:bodyPr/>
          <a:lstStyle/>
          <a:p>
            <a:pPr algn="ctr"/>
            <a:r>
              <a:rPr lang="it-IT" dirty="0"/>
              <a:t>Backup</a:t>
            </a:r>
          </a:p>
        </p:txBody>
      </p:sp>
      <p:pic>
        <p:nvPicPr>
          <p:cNvPr id="4" name="Immagine 3" descr="Immagine che contiene schermata, linea, quadrato, diagramma&#10;&#10;Il contenuto generato dall'IA potrebbe non essere corretto.">
            <a:extLst>
              <a:ext uri="{FF2B5EF4-FFF2-40B4-BE49-F238E27FC236}">
                <a16:creationId xmlns:a16="http://schemas.microsoft.com/office/drawing/2014/main" id="{EF8ECA60-CC1F-71C6-4A53-99077DC12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64" y="1401550"/>
            <a:ext cx="4778477" cy="4054900"/>
          </a:xfrm>
          <a:prstGeom prst="rect">
            <a:avLst/>
          </a:prstGeom>
        </p:spPr>
      </p:pic>
      <p:pic>
        <p:nvPicPr>
          <p:cNvPr id="6" name="Immagine 5" descr="Immagine che contiene schermata, linea, diagramma, quadrato&#10;&#10;Il contenuto generato dall'IA potrebbe non essere corretto.">
            <a:extLst>
              <a:ext uri="{FF2B5EF4-FFF2-40B4-BE49-F238E27FC236}">
                <a16:creationId xmlns:a16="http://schemas.microsoft.com/office/drawing/2014/main" id="{72DCC590-7323-4018-6A85-DA8914EDC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900" y="1391846"/>
            <a:ext cx="6374635" cy="405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824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2034</TotalTime>
  <Words>433</Words>
  <Application>Microsoft Office PowerPoint</Application>
  <PresentationFormat>Widescreen</PresentationFormat>
  <Paragraphs>58</Paragraphs>
  <Slides>16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Tema di Office</vt:lpstr>
      <vt:lpstr>Quantum Search algorithm</vt:lpstr>
      <vt:lpstr>The problem</vt:lpstr>
      <vt:lpstr>Follow me and try yourself!</vt:lpstr>
      <vt:lpstr>Quantum Oracles</vt:lpstr>
      <vt:lpstr>Grover Oracle</vt:lpstr>
      <vt:lpstr>Grover Oracle - Implementation</vt:lpstr>
      <vt:lpstr>Grover Diffuser</vt:lpstr>
      <vt:lpstr>Grover Diffuser - Implementation</vt:lpstr>
      <vt:lpstr>Grover Algorithm</vt:lpstr>
      <vt:lpstr>Grover Algorithm – Geometric interpretation</vt:lpstr>
      <vt:lpstr>How many times?</vt:lpstr>
      <vt:lpstr>Results – correct picks VS k</vt:lpstr>
      <vt:lpstr>Results – success VS k</vt:lpstr>
      <vt:lpstr>Results – complexity</vt:lpstr>
      <vt:lpstr>Thanks for the attention!</vt:lpstr>
      <vt:lpstr>Backup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Aguiari - matteo.aguiari2@studio.unibo.it</dc:creator>
  <cp:lastModifiedBy>Matteo Aguiari - matteo.aguiari2@studio.unibo.it</cp:lastModifiedBy>
  <cp:revision>21</cp:revision>
  <dcterms:created xsi:type="dcterms:W3CDTF">2026-01-21T09:46:24Z</dcterms:created>
  <dcterms:modified xsi:type="dcterms:W3CDTF">2026-01-30T08:16:03Z</dcterms:modified>
</cp:coreProperties>
</file>